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6" r:id="rId8"/>
    <p:sldId id="575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89" d="100"/>
          <a:sy n="89" d="100"/>
        </p:scale>
        <p:origin x="437" y="72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enushyam65-eng/Amazon-Sales-Analysis-.git" TargetMode="External"/><Relationship Id="rId2" Type="http://schemas.openxmlformats.org/officeDocument/2006/relationships/hyperlink" Target="https://www.kaggle.com/datasets/litonislam/amazon-sales-analysis-cleaned-data/data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rive.google.com/drive/folders/1NrHoPlRf9RKj1BgCA80F2NWfED-XXVCj?usp=drive_link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100" b="1" dirty="0"/>
              <a:t>Amazon Sales</a:t>
            </a:r>
          </a:p>
          <a:p>
            <a:r>
              <a:rPr lang="en-US" sz="5100" b="1" dirty="0"/>
              <a:t>Analysis </a:t>
            </a:r>
            <a:br>
              <a:rPr lang="en-US" sz="5100" b="1" dirty="0"/>
            </a:br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424544" y="3881379"/>
            <a:ext cx="4872264" cy="17740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b="1" cap="all" dirty="0" err="1"/>
              <a:t>Samenu</a:t>
            </a:r>
            <a:r>
              <a:rPr lang="en-US" sz="1600" b="1" cap="all" dirty="0"/>
              <a:t> </a:t>
            </a:r>
            <a:r>
              <a:rPr lang="en-US" sz="1600" b="1" cap="all" dirty="0" err="1"/>
              <a:t>shyamsundar</a:t>
            </a:r>
            <a:endParaRPr lang="en-US" sz="1600" b="1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b="1" cap="all" dirty="0" err="1"/>
              <a:t>Khallikote</a:t>
            </a:r>
            <a:r>
              <a:rPr lang="en-US" sz="1600" b="1" cap="all" dirty="0"/>
              <a:t> unitary university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US" sz="1600" b="1" cap="all" dirty="0" err="1"/>
              <a:t>B.sc.</a:t>
            </a:r>
            <a:r>
              <a:rPr lang="en-US" sz="1600" b="1" cap="all" dirty="0"/>
              <a:t> Computer science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samenushyam65@gmail.com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90" y="963029"/>
            <a:ext cx="4590784" cy="4936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4E1F6B-F323-F797-7362-9EB55F5D2C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990" y="646980"/>
            <a:ext cx="4590784" cy="533975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7" y="905773"/>
            <a:ext cx="10755072" cy="1742535"/>
          </a:xfrm>
        </p:spPr>
        <p:txBody>
          <a:bodyPr lIns="91440" tIns="45720" rIns="91440" bIns="45720" anchor="t">
            <a:normAutofit/>
          </a:bodyPr>
          <a:lstStyle/>
          <a:p>
            <a:pPr algn="ctr"/>
            <a:r>
              <a:rPr lang="en-US" sz="5400" b="1" u="sng" cap="all" dirty="0" err="1">
                <a:latin typeface="Arial" panose="020B0604020202020204"/>
                <a:cs typeface="Arial" panose="020B0604020202020204"/>
              </a:rPr>
              <a:t>OUtline</a:t>
            </a:r>
            <a:br>
              <a:rPr lang="en-US" sz="5400" b="1" cap="all" dirty="0">
                <a:latin typeface="Arial" panose="020B0604020202020204"/>
                <a:cs typeface="Arial" panose="020B0604020202020204"/>
              </a:rPr>
            </a:br>
            <a:r>
              <a:rPr lang="en-IN" sz="5400" b="1" u="sng" cap="all" dirty="0">
                <a:latin typeface="Arial" panose="020B0604020202020204" pitchFamily="34" charset="0"/>
                <a:cs typeface="Arial" panose="020B0604020202020204" pitchFamily="34" charset="0"/>
              </a:rPr>
              <a:t>AMAZON</a:t>
            </a:r>
            <a:r>
              <a:rPr lang="en-IN" sz="5400" b="1" u="sng" dirty="0">
                <a:latin typeface="Arial" panose="020B0604020202020204" pitchFamily="34" charset="0"/>
                <a:cs typeface="Arial" panose="020B0604020202020204" pitchFamily="34" charset="0"/>
              </a:rPr>
              <a:t> SALES ANALYSIS</a:t>
            </a:r>
            <a:endParaRPr lang="en-US" sz="5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2838091"/>
            <a:ext cx="10515600" cy="323609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 b="1" dirty="0"/>
              <a:t>Data Source</a:t>
            </a:r>
          </a:p>
          <a:p>
            <a:pPr marL="0" indent="0">
              <a:buNone/>
            </a:pPr>
            <a:r>
              <a:rPr lang="en-US" sz="2200" b="1" dirty="0"/>
              <a:t>Table:</a:t>
            </a:r>
            <a:r>
              <a:rPr lang="en-US" sz="2200" dirty="0"/>
              <a:t> </a:t>
            </a:r>
            <a:r>
              <a:rPr lang="en-US" sz="2200" dirty="0" err="1"/>
              <a:t>Amazon_sales</a:t>
            </a:r>
            <a:r>
              <a:rPr lang="en-US" sz="2200" dirty="0"/>
              <a:t> with a supporting </a:t>
            </a:r>
            <a:r>
              <a:rPr lang="en-US" sz="2200" dirty="0" err="1"/>
              <a:t>DateTable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Key Fields:</a:t>
            </a:r>
            <a:endParaRPr lang="en-US" sz="2200" dirty="0"/>
          </a:p>
          <a:p>
            <a:pPr marL="0" indent="0">
              <a:buNone/>
            </a:pPr>
            <a:r>
              <a:rPr lang="en-US" sz="2200" dirty="0" err="1"/>
              <a:t>product_category</a:t>
            </a:r>
            <a:r>
              <a:rPr lang="en-US" sz="2200" dirty="0"/>
              <a:t>, </a:t>
            </a:r>
            <a:r>
              <a:rPr lang="en-US" sz="2200" dirty="0" err="1"/>
              <a:t>customer_region</a:t>
            </a:r>
            <a:r>
              <a:rPr lang="en-US" sz="2200" dirty="0"/>
              <a:t>, </a:t>
            </a:r>
            <a:r>
              <a:rPr lang="en-US" sz="2200" dirty="0" err="1"/>
              <a:t>payment_method</a:t>
            </a:r>
            <a:endParaRPr lang="en-US" sz="2200" dirty="0"/>
          </a:p>
          <a:p>
            <a:pPr marL="0" indent="0">
              <a:buNone/>
            </a:pPr>
            <a:r>
              <a:rPr lang="en-US" sz="2200" dirty="0" err="1"/>
              <a:t>total_revenue</a:t>
            </a:r>
            <a:r>
              <a:rPr lang="en-US" sz="2200" dirty="0"/>
              <a:t>, profit, </a:t>
            </a:r>
            <a:r>
              <a:rPr lang="en-US" sz="2200" dirty="0" err="1"/>
              <a:t>quantity_sold</a:t>
            </a:r>
            <a:r>
              <a:rPr lang="en-US" sz="2200" dirty="0"/>
              <a:t>, </a:t>
            </a:r>
            <a:r>
              <a:rPr lang="en-US" sz="2200" dirty="0" err="1"/>
              <a:t>discount_percent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rating, </a:t>
            </a:r>
            <a:r>
              <a:rPr lang="en-US" sz="2200" dirty="0" err="1"/>
              <a:t>review_count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/>
              <a:t>Date dimensions: </a:t>
            </a:r>
            <a:r>
              <a:rPr lang="en-US" sz="2200" dirty="0"/>
              <a:t>Year, Quarter, Month</a:t>
            </a:r>
          </a:p>
          <a:p>
            <a:endParaRPr lang="en-GB" sz="2200" dirty="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512" y="1078302"/>
            <a:ext cx="10223897" cy="517585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2" y="171507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Amazon, as a large-scale e-commerce platform, generates vast volumes of transactional data across multiple product categories, regions, and customer segments. However, without structured analysis, this data remains underutilized — making it difficult for business stakeholders to identify performance gaps, optimize pricing strategies, or allocate resources effectively.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075" y="802257"/>
            <a:ext cx="10295334" cy="502047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075" y="1304305"/>
            <a:ext cx="10515600" cy="475143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200" dirty="0"/>
              <a:t>The proposed system aims to address the challenge of analyzing and visualizing Amazon sales data to ensure accurate tracking of revenue, profit, regional performance, and product demand. This involves leveraging </a:t>
            </a:r>
            <a:r>
              <a:rPr lang="en-US" sz="1200" b="1" dirty="0"/>
              <a:t>data analytics and interactive visualization techniques</a:t>
            </a:r>
            <a:r>
              <a:rPr lang="en-US" sz="1200" dirty="0"/>
              <a:t> to uncover actionable business insights. The solution consists of the following components:</a:t>
            </a:r>
          </a:p>
          <a:p>
            <a:pPr marL="0" indent="0">
              <a:buNone/>
            </a:pPr>
            <a:r>
              <a:rPr lang="en-US" sz="1200" b="1" u="sng" dirty="0"/>
              <a:t>Data Collection</a:t>
            </a:r>
          </a:p>
          <a:p>
            <a:r>
              <a:rPr lang="en-US" sz="1200" dirty="0"/>
              <a:t>Gather historical Amazon sales transaction data including product category, customer region, payment method, quantity sold, revenue, profit, discount percentage, and customer ratings from Kaggle.</a:t>
            </a:r>
          </a:p>
          <a:p>
            <a:r>
              <a:rPr lang="en-US" sz="1200" dirty="0"/>
              <a:t>Utilize supporting data sources such as a structured </a:t>
            </a:r>
            <a:r>
              <a:rPr lang="en-US" sz="1200" b="1" dirty="0"/>
              <a:t>Date Table</a:t>
            </a:r>
            <a:r>
              <a:rPr lang="en-US" sz="1200" dirty="0"/>
              <a:t> to enable time-based analysis across Year, Quarter, and Month dimensions.</a:t>
            </a:r>
          </a:p>
          <a:p>
            <a:r>
              <a:rPr lang="en-US" sz="1200" dirty="0"/>
              <a:t>Incorporate product-level metadata including review counts and ratings to support performance benchmarking.</a:t>
            </a:r>
          </a:p>
          <a:p>
            <a:pPr marL="0" indent="0">
              <a:buNone/>
            </a:pPr>
            <a:r>
              <a:rPr lang="en-US" sz="1200" b="1" u="sng" dirty="0"/>
              <a:t>Data Preprocessing</a:t>
            </a:r>
          </a:p>
          <a:p>
            <a:r>
              <a:rPr lang="en-US" sz="1200" dirty="0"/>
              <a:t>Clean and preprocess the collected data to handle missing values, outliers, and data type inconsistencies within Power Query Editor.</a:t>
            </a:r>
          </a:p>
          <a:p>
            <a:r>
              <a:rPr lang="en-US" sz="1200" dirty="0"/>
              <a:t>Apply </a:t>
            </a:r>
            <a:r>
              <a:rPr lang="en-US" sz="1200" b="1" dirty="0"/>
              <a:t>feature engineering</a:t>
            </a:r>
            <a:r>
              <a:rPr lang="en-US" sz="1200" dirty="0"/>
              <a:t> to derive calculated columns and DAX measures such as Total Revenue, Total Profit, Average Rating, and Top N Product rankings.</a:t>
            </a:r>
          </a:p>
          <a:p>
            <a:r>
              <a:rPr lang="en-US" sz="1200" dirty="0"/>
              <a:t>Establish relationships between the sales table and date table to enable accurate time intelligence and cross-filtering across all report pages.</a:t>
            </a:r>
          </a:p>
          <a:p>
            <a:pPr marL="0" indent="0">
              <a:buNone/>
            </a:pPr>
            <a:r>
              <a:rPr lang="en-US" sz="1200" b="1" u="sng" dirty="0"/>
              <a:t>Deployment</a:t>
            </a:r>
          </a:p>
          <a:p>
            <a:r>
              <a:rPr lang="en-US" sz="1200" dirty="0"/>
              <a:t>Develop a </a:t>
            </a:r>
            <a:r>
              <a:rPr lang="en-US" sz="1200" b="1" dirty="0"/>
              <a:t>user-friendly, multi-page Power BI Dashboard</a:t>
            </a:r>
            <a:r>
              <a:rPr lang="en-US" sz="1200" dirty="0"/>
              <a:t> that provides real-time interactive insights into sales trends, regional performance, discount impact, and product rankings.</a:t>
            </a:r>
          </a:p>
          <a:p>
            <a:r>
              <a:rPr lang="en-US" sz="1200" dirty="0"/>
              <a:t>Deploy the solution on </a:t>
            </a:r>
            <a:r>
              <a:rPr lang="en-US" sz="1200" b="1" dirty="0"/>
              <a:t>Power BI Service</a:t>
            </a:r>
            <a:r>
              <a:rPr lang="en-US" sz="1200" dirty="0"/>
              <a:t> — a scalable and reliable cloud platform — ensuring accessibility across devices with role-based sharing and scheduled data refresh.</a:t>
            </a:r>
          </a:p>
          <a:p>
            <a:r>
              <a:rPr lang="en-US" sz="1200" dirty="0"/>
              <a:t>Incorporate </a:t>
            </a:r>
            <a:r>
              <a:rPr lang="en-US" sz="1200" b="1" dirty="0"/>
              <a:t>slicers, navigation buttons, and cross-filtering</a:t>
            </a:r>
            <a:r>
              <a:rPr lang="en-US" sz="1200" dirty="0"/>
              <a:t> to allow non-technical stakeholders to explore data independently without requiring SQL or coding knowledge.</a:t>
            </a:r>
          </a:p>
          <a:p>
            <a:pPr marL="0" indent="0">
              <a:buNone/>
            </a:pP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034" y="890453"/>
            <a:ext cx="10308017" cy="662301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344301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800" dirty="0"/>
              <a:t>The System Approach outlines the overall strategy and methodology for developing and implementing the Amazon Sales Analysis dashboard.</a:t>
            </a:r>
          </a:p>
          <a:p>
            <a:pPr marL="0" indent="0">
              <a:buNone/>
            </a:pPr>
            <a:r>
              <a:rPr lang="en-US" sz="1800" b="1" u="sng" dirty="0"/>
              <a:t>System Requirements</a:t>
            </a:r>
          </a:p>
          <a:p>
            <a:r>
              <a:rPr lang="en-US" sz="1800" dirty="0"/>
              <a:t>Microsoft Power BI Desktop is required to build and run this project, and a stable internet connection for publishing to Power BI Service.</a:t>
            </a:r>
          </a:p>
          <a:p>
            <a:pPr marL="0" indent="0">
              <a:buNone/>
            </a:pPr>
            <a:r>
              <a:rPr lang="en-US" sz="1800" b="1" u="sng" dirty="0"/>
              <a:t>Libraries &amp; Features Required to Build the Model</a:t>
            </a:r>
          </a:p>
          <a:p>
            <a:r>
              <a:rPr lang="en-US" sz="1800" dirty="0"/>
              <a:t>Power BI's built-in suite of tools is utilized to develop this solution, including </a:t>
            </a:r>
            <a:r>
              <a:rPr lang="en-US" sz="1800" b="1" dirty="0"/>
              <a:t>Power Query Editor</a:t>
            </a:r>
            <a:r>
              <a:rPr lang="en-US" sz="1800" dirty="0"/>
              <a:t> for data cleaning and transformation, </a:t>
            </a:r>
            <a:r>
              <a:rPr lang="en-US" sz="1800" b="1" dirty="0"/>
              <a:t>Filters</a:t>
            </a:r>
            <a:r>
              <a:rPr lang="en-US" sz="1800" dirty="0"/>
              <a:t> for create a table of top-3 products by Average Rating and Quantity Sold , </a:t>
            </a:r>
            <a:r>
              <a:rPr lang="en-US" sz="1800" b="1" dirty="0"/>
              <a:t>Data Modeling</a:t>
            </a:r>
            <a:r>
              <a:rPr lang="en-US" sz="1800" dirty="0"/>
              <a:t> for establishing relationships between the </a:t>
            </a:r>
            <a:r>
              <a:rPr lang="en-US" sz="1800" dirty="0" err="1"/>
              <a:t>Amazon_sales</a:t>
            </a:r>
            <a:r>
              <a:rPr lang="en-US" sz="1800" dirty="0"/>
              <a:t> and </a:t>
            </a:r>
            <a:r>
              <a:rPr lang="en-US" sz="1800" dirty="0" err="1"/>
              <a:t>DateTable</a:t>
            </a:r>
            <a:r>
              <a:rPr lang="en-US" sz="1800" dirty="0"/>
              <a:t>, and core visuals such as </a:t>
            </a:r>
            <a:r>
              <a:rPr lang="en-US" sz="1800" b="1" dirty="0"/>
              <a:t>Map, Donut Chart, Bar Chart, Scatter Chart, Line Chart, Card Visual, Slicers, and Navigation Buttons</a:t>
            </a:r>
            <a:r>
              <a:rPr lang="en-US" sz="1800" dirty="0"/>
              <a:t> to build the complete 4-page interactive dashboard.</a:t>
            </a:r>
          </a:p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GB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37" y="879894"/>
            <a:ext cx="10176272" cy="612476"/>
          </a:xfrm>
        </p:spPr>
        <p:txBody>
          <a:bodyPr lIns="91440" tIns="45720" rIns="91440" bIns="45720" anchor="t">
            <a:normAutofit fontScale="90000"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1584104"/>
            <a:ext cx="10515600" cy="264284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dirty="0"/>
              <a:t>The Amazon Sales Analysis Power BI dashboard successfully delivered a comprehensive, interactive, and visually appealing 4-page report that transforms raw Amazon sales data into meaningful business insights. The </a:t>
            </a:r>
            <a:r>
              <a:rPr lang="en-US" sz="1800" b="1" dirty="0"/>
              <a:t>Overview page</a:t>
            </a:r>
            <a:r>
              <a:rPr lang="en-US" sz="1800" dirty="0"/>
              <a:t> provides a high-level summary of total revenue, profit trends over time, and category-wise performance through cards, line charts, and column charts. The </a:t>
            </a:r>
            <a:r>
              <a:rPr lang="en-US" sz="1800" b="1" dirty="0"/>
              <a:t>Regional Analysis page</a:t>
            </a:r>
            <a:r>
              <a:rPr lang="en-US" sz="1800" dirty="0"/>
              <a:t> identifies geographic revenue distribution across customer regions using map visuals, donut charts, and bar charts. The </a:t>
            </a:r>
            <a:r>
              <a:rPr lang="en-US" sz="1800" b="1" dirty="0"/>
              <a:t>Payment &amp; Discount page</a:t>
            </a:r>
            <a:r>
              <a:rPr lang="en-US" sz="1800" dirty="0"/>
              <a:t> uncovers the relationship between discount percentages and profitability, along with payment method preferences through scatter charts and donut charts. Finally, the </a:t>
            </a:r>
            <a:r>
              <a:rPr lang="en-US" sz="1800" b="1" dirty="0"/>
              <a:t>Product Performance page</a:t>
            </a:r>
            <a:r>
              <a:rPr lang="en-US" sz="1800" dirty="0"/>
              <a:t> benchmarks top products by average rating and quantity sold using detailed tables and line charts — collectively enabling stakeholders to make data-driven decisions on sales strategy, regional targeting, pricing optimization, and product prioritization.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BD835A-01CB-3FBF-8653-38F749B80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2513" y="966788"/>
            <a:ext cx="8703973" cy="485775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6F775B-1561-4926-E516-BBB67CC028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763" y="691641"/>
            <a:ext cx="5685672" cy="3035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3A7993-5AD4-B1E4-1DC3-A58BA17332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04" y="691641"/>
            <a:ext cx="5760435" cy="3035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FD9B12B-4DD7-851B-6260-39A2D511AD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04" y="3838753"/>
            <a:ext cx="5760435" cy="270869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63CC1DF-80F5-972E-E02C-674E39B7D10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763" y="3838753"/>
            <a:ext cx="5685673" cy="2708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588" y="897147"/>
            <a:ext cx="10252463" cy="725244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257867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dirty="0"/>
              <a:t>The Amazon Sales Analysis Power BI dashboard successfully transforms raw Amazon sales data into clear, actionable insights across four key dimensions — revenue trends, regional performance, payment behavior, and product benchmarking. By leveraging Power Query, DAX measures, and interactive visuals, the solution empowers stakeholders to monitor business health, identify high-performing regions and products, and optimize discount strategies in real time. The dashboard serves as a centralized decision-making platform that simplifies complex data, enabling business teams to drive revenue growth and improve overall operational efficiency effectively.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071" y="1026543"/>
            <a:ext cx="10246981" cy="646981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US" sz="2000" dirty="0"/>
              <a:t>The Amazon Sales Analysis dashboard can be further enhanced by integrating </a:t>
            </a:r>
            <a:r>
              <a:rPr lang="en-US" sz="2000" b="1" dirty="0"/>
              <a:t>machine learning models</a:t>
            </a:r>
            <a:r>
              <a:rPr lang="en-US" sz="2000" dirty="0"/>
              <a:t> to predict future sales trends and product demand. Incorporating </a:t>
            </a:r>
            <a:r>
              <a:rPr lang="en-US" sz="2000" b="1" dirty="0"/>
              <a:t>customer demographic data</a:t>
            </a:r>
            <a:r>
              <a:rPr lang="en-US" sz="2000" dirty="0"/>
              <a:t> and real-time data streaming via </a:t>
            </a:r>
            <a:r>
              <a:rPr lang="en-US" sz="2000" b="1" dirty="0"/>
              <a:t>Power BI Service</a:t>
            </a:r>
            <a:r>
              <a:rPr lang="en-US" sz="2000" dirty="0"/>
              <a:t> would enable deeper segmentation and up-to-date insights. Adding </a:t>
            </a:r>
            <a:r>
              <a:rPr lang="en-US" sz="2000" b="1" dirty="0"/>
              <a:t>competitor pricing analysis</a:t>
            </a:r>
            <a:r>
              <a:rPr lang="en-US" sz="2000" dirty="0"/>
              <a:t> and </a:t>
            </a:r>
            <a:r>
              <a:rPr lang="en-US" sz="2000" b="1" dirty="0"/>
              <a:t>seasonal trend integration</a:t>
            </a:r>
            <a:r>
              <a:rPr lang="en-US" sz="2000" dirty="0"/>
              <a:t> would make the solution a truly comprehensive, future-ready business intelligence platform.</a:t>
            </a:r>
            <a:endParaRPr lang="en-GB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 panose="020B0604020202020204"/>
                <a:cs typeface="Arial" panose="020B0604020202020204"/>
              </a:rPr>
              <a:t>References: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Kaggle Dataset Link: </a:t>
            </a:r>
            <a:r>
              <a:rPr lang="en-IN" sz="2200" dirty="0">
                <a:latin typeface="Franklin Gothic Book" panose="020B0503020102020204"/>
                <a:hlinkClick r:id="rId2"/>
              </a:rPr>
              <a:t>https://www.kaggle.com/datasets/litonislam/amazon-sales-analysis-cleaned-data/data</a:t>
            </a:r>
            <a:r>
              <a:rPr lang="en-IN" sz="2200" dirty="0">
                <a:latin typeface="Franklin Gothic Book" panose="020B0503020102020204"/>
              </a:rPr>
              <a:t> </a:t>
            </a: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 panose="020B0503020102020204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 panose="020B0503020102020204"/>
                <a:hlinkClick r:id="rId3"/>
              </a:rPr>
              <a:t>https://github.com/samenushyam65-eng/Amazon-Sales-Analysis-</a:t>
            </a:r>
            <a:r>
              <a:rPr lang="en-IN" sz="2200" u="sng">
                <a:solidFill>
                  <a:srgbClr val="0070C0"/>
                </a:solidFill>
                <a:latin typeface="Franklin Gothic Book" panose="020B0503020102020204"/>
                <a:hlinkClick r:id="rId3"/>
              </a:rPr>
              <a:t>.git</a:t>
            </a:r>
            <a:r>
              <a:rPr lang="en-IN" sz="2200" u="sng">
                <a:solidFill>
                  <a:srgbClr val="0070C0"/>
                </a:solidFill>
                <a:latin typeface="Franklin Gothic Book" panose="020B0503020102020204"/>
              </a:rPr>
              <a:t>  </a:t>
            </a: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 panose="020B0503020102020204"/>
              </a:rPr>
              <a:t>Drive Link: </a:t>
            </a:r>
            <a:r>
              <a:rPr lang="en-IN" sz="2200" dirty="0">
                <a:latin typeface="Franklin Gothic Book" panose="020B0503020102020204"/>
                <a:hlinkClick r:id="rId4"/>
              </a:rPr>
              <a:t>https://drive.google.com/drive/folders/1NrHoPlRf9RKj1BgCA80F2NWfED-XXVCj?usp=drive_link</a:t>
            </a:r>
            <a:r>
              <a:rPr lang="en-IN" sz="2200" dirty="0">
                <a:latin typeface="Franklin Gothic Book" panose="020B0503020102020204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948</Words>
  <Application>Microsoft Office PowerPoint</Application>
  <PresentationFormat>Widescreen</PresentationFormat>
  <Paragraphs>51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 AMAZON SALES ANALYSIS</vt:lpstr>
      <vt:lpstr>Problem Statement:</vt:lpstr>
      <vt:lpstr>Proposed Solution:</vt:lpstr>
      <vt:lpstr>System  Approach:</vt:lpstr>
      <vt:lpstr>Result:</vt:lpstr>
      <vt:lpstr>PowerPoint Presentation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Shyam Sundar</cp:lastModifiedBy>
  <cp:revision>108</cp:revision>
  <dcterms:created xsi:type="dcterms:W3CDTF">2024-05-21T11:55:00Z</dcterms:created>
  <dcterms:modified xsi:type="dcterms:W3CDTF">2026-03-13T16:58:29Z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